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08269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8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7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1371600" cy="1371600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051560"/>
            <a:ext cx="914400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777240"/>
            <a:ext cx="7040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 Robust and Scalable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1828800" y="1325880"/>
            <a:ext cx="7040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Biomarkers for Systemic Disorders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1828800" y="201168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Multi-Omics Validation to Wearable Time-Series Foundation Models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1828800" y="2514600"/>
            <a:ext cx="4114800" cy="36576"/>
          </a:xfrm>
          <a:prstGeom prst="rect">
            <a:avLst/>
          </a:prstGeom>
          <a:solidFill>
            <a:srgbClr val="0D9488">
              <a:alpha val="6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828800" y="2651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Eddie Massey III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828800" y="2971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Invisible Illness Project  ·  Roeh Health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1828800" y="4297680"/>
            <a:ext cx="1554480" cy="365760"/>
          </a:xfrm>
          <a:prstGeom prst="rect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828800" y="42976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ME/CFS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520440" y="4297680"/>
            <a:ext cx="1554480" cy="365760"/>
          </a:xfrm>
          <a:prstGeom prst="rect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3520440" y="42976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212080" y="4297680"/>
            <a:ext cx="1554480" cy="365760"/>
          </a:xfrm>
          <a:prstGeom prst="rect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212080" y="42976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COVID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903720" y="4297680"/>
            <a:ext cx="1554480" cy="365760"/>
          </a:xfrm>
          <a:prstGeom prst="rect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903720" y="42976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 AI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937760" y="0"/>
            <a:ext cx="420624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937760" y="0"/>
            <a:ext cx="4206240" cy="5143500"/>
          </a:xfrm>
          <a:prstGeom prst="rect">
            <a:avLst/>
          </a:prstGeom>
          <a:solidFill>
            <a:srgbClr val="0D1B2A">
              <a:alpha val="70000"/>
            </a:srgbClr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320040" y="27432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Personal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320040" y="914400"/>
            <a:ext cx="32004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320040" y="1143000"/>
            <a:ext cx="4434840" cy="566928"/>
          </a:xfrm>
          <a:prstGeom prst="rect">
            <a:avLst/>
          </a:prstGeom>
          <a:solidFill>
            <a:srgbClr val="243447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234440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2960" y="121615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father — driven to find answers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320040" y="1828800"/>
            <a:ext cx="4434840" cy="566928"/>
          </a:xfrm>
          <a:prstGeom prst="rect">
            <a:avLst/>
          </a:prstGeom>
          <a:solidFill>
            <a:srgbClr val="243447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1920240"/>
            <a:ext cx="347472" cy="34747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22960" y="190195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8+ specialists consulted, no definitive diagnosis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320040" y="2514600"/>
            <a:ext cx="4434840" cy="566928"/>
          </a:xfrm>
          <a:prstGeom prst="rect">
            <a:avLst/>
          </a:prstGeom>
          <a:solidFill>
            <a:srgbClr val="243447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2606040"/>
            <a:ext cx="347472" cy="34747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22960" y="258775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Dismissed, misdiagnosed, told to 'manage symptoms'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320040" y="3200400"/>
            <a:ext cx="4434840" cy="566928"/>
          </a:xfrm>
          <a:prstGeom prst="rect">
            <a:avLst/>
          </a:prstGeom>
          <a:solidFill>
            <a:srgbClr val="243447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" y="3291840"/>
            <a:ext cx="347472" cy="34747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22960" y="327355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background became research leverage</a:t>
            </a:r>
            <a:endParaRPr lang="en-US" sz="1250" dirty="0"/>
          </a:p>
        </p:txBody>
      </p:sp>
      <p:sp>
        <p:nvSpPr>
          <p:cNvPr id="19" name="Shape 12"/>
          <p:cNvSpPr/>
          <p:nvPr/>
        </p:nvSpPr>
        <p:spPr>
          <a:xfrm>
            <a:off x="320040" y="3886200"/>
            <a:ext cx="4434840" cy="566928"/>
          </a:xfrm>
          <a:prstGeom prst="rect">
            <a:avLst/>
          </a:prstGeom>
          <a:solidFill>
            <a:srgbClr val="243447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1480" y="3977640"/>
            <a:ext cx="347472" cy="347472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822960" y="395935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Invisible Illness Project to serve thousands more like me</a:t>
            </a:r>
            <a:endParaRPr lang="en-US" sz="1250" dirty="0"/>
          </a:p>
        </p:txBody>
      </p:sp>
      <p:sp>
        <p:nvSpPr>
          <p:cNvPr id="22" name="Shape 14"/>
          <p:cNvSpPr/>
          <p:nvPr/>
        </p:nvSpPr>
        <p:spPr>
          <a:xfrm>
            <a:off x="320040" y="4663440"/>
            <a:ext cx="4434840" cy="384048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5"/>
          <p:cNvSpPr/>
          <p:nvPr/>
        </p:nvSpPr>
        <p:spPr>
          <a:xfrm>
            <a:off x="411480" y="4663440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research gap is a personal emergency."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3F"/>
          </a:solidFill>
          <a:ln w="12700">
            <a:solidFill>
              <a:srgbClr val="1B2A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09728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Problem Is Technically &amp; Clinically Important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intersection of heterogeneous disease and complex ML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26974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188720"/>
            <a:ext cx="269748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1325880"/>
            <a:ext cx="640080" cy="640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20574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Heterogeneous &amp; Fluctuating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02920" y="2606040"/>
            <a:ext cx="2331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ME/CFS, POTS, Long COVID present differently across patients and across time — one-time testing routinely misses them.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200400" y="1188720"/>
            <a:ext cx="26974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200400" y="1188720"/>
            <a:ext cx="269748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1325880"/>
            <a:ext cx="640080" cy="6400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37560" y="20574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Gap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383280" y="2606040"/>
            <a:ext cx="2331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remain undiagnosed despite high symptom burden and severe functional impairment.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080760" y="1188720"/>
            <a:ext cx="26974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6080760" y="1188720"/>
            <a:ext cx="269748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0" y="1325880"/>
            <a:ext cx="640080" cy="6400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217920" y="20574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ML Challenge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263640" y="2606040"/>
            <a:ext cx="2331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simply classification — learning robust representations under missingness, cohort shift, modality imbalance, and weak ground truth.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7432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Traditional Biomarker Discovery Struggles Here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2560320" cy="3474720"/>
          </a:xfrm>
          <a:prstGeom prst="rect">
            <a:avLst/>
          </a:prstGeom>
          <a:solidFill>
            <a:srgbClr val="243447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417320"/>
            <a:ext cx="914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1480" y="2468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Approach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288036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Seeks 1–2 key biomarkers in isolation, treating disease as a simple binary label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00400" y="1188720"/>
            <a:ext cx="5623560" cy="1005840"/>
          </a:xfrm>
          <a:prstGeom prst="rect">
            <a:avLst/>
          </a:prstGeom>
          <a:solidFill>
            <a:srgbClr val="243447"/>
          </a:solidFill>
          <a:ln w="12700">
            <a:solidFill>
              <a:srgbClr val="1B2A3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3200400" y="1188720"/>
            <a:ext cx="64008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401568" y="129844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Multifactorial Etiology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401568" y="160020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ME/CFS involves interacting immune, metabolic, microbial, autonomic, and behavioral processes varying across patients.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00400" y="2331720"/>
            <a:ext cx="5623560" cy="1005840"/>
          </a:xfrm>
          <a:prstGeom prst="rect">
            <a:avLst/>
          </a:prstGeom>
          <a:solidFill>
            <a:srgbClr val="243447"/>
          </a:solidFill>
          <a:ln w="12700">
            <a:solidFill>
              <a:srgbClr val="1B2A3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200400" y="2331720"/>
            <a:ext cx="64008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401568" y="244144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Attractive but Fragile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401568" y="274320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BioMapAI explicitly argues that single-outcome / single-modality framing is poorly matched to these diseases.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200400" y="3474720"/>
            <a:ext cx="5623560" cy="1005840"/>
          </a:xfrm>
          <a:prstGeom prst="rect">
            <a:avLst/>
          </a:prstGeom>
          <a:solidFill>
            <a:srgbClr val="243447"/>
          </a:solidFill>
          <a:ln w="12700">
            <a:solidFill>
              <a:srgbClr val="1B2A3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3200400" y="3474720"/>
            <a:ext cx="64008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3401568" y="358444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Risk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3401568" y="388620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Especially vulnerable to spurious correlations and non-generalizable 'biomarkers' when systems interact.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3F"/>
          </a:solidFill>
          <a:ln w="12700">
            <a:solidFill>
              <a:srgbClr val="1B2A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09728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Duke/Jackson BioMapAI: Why It Is Novel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multi-omics modeling of ME/CFS (2025)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2103120" cy="3520440"/>
          </a:xfrm>
          <a:prstGeom prst="rect">
            <a:avLst/>
          </a:prstGeom>
          <a:solidFill>
            <a:srgbClr val="1B2A3F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46304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249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320040" y="2194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26060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153 ME/CFS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 healthy controls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32918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4-year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longitudinal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0040" y="37947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multi-omics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697480" y="1188720"/>
            <a:ext cx="6126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1344168"/>
            <a:ext cx="411480" cy="41148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337560" y="1261872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Multi-modal integration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337560" y="155448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Gut metagenomics, plasma metabolomics, immune profiling, blood labs, and clinical symptoms in a single framework.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2697480" y="2039112"/>
            <a:ext cx="6126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640" y="2194560"/>
            <a:ext cx="411480" cy="41148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337560" y="2112264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Multi-output learning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3337560" y="2404872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high-dim omics to a matrix of multiple symptom outcomes, capturing both disease-level and symptom-specific biology.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2697480" y="2889504"/>
            <a:ext cx="6126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4640" y="3044952"/>
            <a:ext cx="411480" cy="4114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337560" y="2962656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Biological connectivity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3337560" y="3255264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SHAP explainability to derive connectivity maps across microbiome, metabolome, and immune features.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2697480" y="3739896"/>
            <a:ext cx="6126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34640" y="3895344"/>
            <a:ext cx="411480" cy="41148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3337560" y="3813048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disease framing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3337560" y="4105656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 strongest attempts to treat ME/CFS as a heterogeneous systems disease, not a simple binary label.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7432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BioMapAI Architecture in Technical Terms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91440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deep neural network with multi-output symptom-aware design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2103120" cy="1280160"/>
          </a:xfrm>
          <a:prstGeom prst="rect">
            <a:avLst/>
          </a:prstGeom>
          <a:solidFill>
            <a:srgbClr val="243447"/>
          </a:solidFill>
          <a:ln w="254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210312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371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Omics Feature Matrix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7830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Gut metagenomics · Metabolomics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Immune profiling · Blood labs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926080" y="1234440"/>
            <a:ext cx="2103120" cy="1280160"/>
          </a:xfrm>
          <a:prstGeom prst="rect">
            <a:avLst/>
          </a:prstGeom>
          <a:solidFill>
            <a:srgbClr val="243447"/>
          </a:solidFill>
          <a:ln w="25400">
            <a:solidFill>
              <a:srgbClr val="14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926080" y="1234440"/>
            <a:ext cx="210312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017520" y="1371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Hidden Layers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017520" y="17830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shared layers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pattern learning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577840" y="1234440"/>
            <a:ext cx="2103120" cy="1280160"/>
          </a:xfrm>
          <a:prstGeom prst="rect">
            <a:avLst/>
          </a:prstGeom>
          <a:solidFill>
            <a:srgbClr val="243447"/>
          </a:solidFill>
          <a:ln w="254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577840" y="1234440"/>
            <a:ext cx="210312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669280" y="1371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Outcome-Specific Layers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69280" y="17830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sublayer per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output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577840" y="2834640"/>
            <a:ext cx="2103120" cy="1280160"/>
          </a:xfrm>
          <a:prstGeom prst="rect">
            <a:avLst/>
          </a:prstGeom>
          <a:solidFill>
            <a:srgbClr val="243447"/>
          </a:solidFill>
          <a:ln w="254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577840" y="2834640"/>
            <a:ext cx="210312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669280" y="2971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Multi-Output Clinical Matrix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669280" y="33832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Fatigue · Pain · Sleep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Cognition · Function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377440" y="1783080"/>
            <a:ext cx="54864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029200" y="1783080"/>
            <a:ext cx="54864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926080" y="2834640"/>
            <a:ext cx="2103120" cy="1280160"/>
          </a:xfrm>
          <a:prstGeom prst="rect">
            <a:avLst/>
          </a:prstGeom>
          <a:solidFill>
            <a:srgbClr val="243447"/>
          </a:solidFill>
          <a:ln w="19050">
            <a:solidFill>
              <a:srgbClr val="CCFB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017520" y="29718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Interpretability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017520" y="33375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&amp; global feature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 across all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omics modalities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0040" y="4681728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novelty: multi-output symptom-aware multi-omics integration — not just a neural net applied to biology.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3F"/>
          </a:solidFill>
          <a:ln w="12700">
            <a:solidFill>
              <a:srgbClr val="1B2A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09728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BioMapAI Results: What Is Promising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a classifier — a hypothesis-generating multimodal systems model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2286000" cy="1828800"/>
          </a:xfrm>
          <a:prstGeom prst="rect">
            <a:avLst/>
          </a:prstGeom>
          <a:solidFill>
            <a:srgbClr val="1B2A3F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3716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~0.91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320040" y="21031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(cross-validation)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2514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discrimination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3154680"/>
            <a:ext cx="2286000" cy="1371600"/>
          </a:xfrm>
          <a:prstGeom prst="rect">
            <a:avLst/>
          </a:prstGeom>
          <a:solidFill>
            <a:srgbClr val="1B2A3F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040" y="32918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of 6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20040" y="38404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cohort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comparisons won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880360" y="1188720"/>
            <a:ext cx="59436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880360" y="1188720"/>
            <a:ext cx="64008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063240" y="1261872"/>
            <a:ext cx="562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Performance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063240" y="155448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than several baselines across the full omics set and individual modalities in cross-validation.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880360" y="2039112"/>
            <a:ext cx="59436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880360" y="2039112"/>
            <a:ext cx="64008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063240" y="2112264"/>
            <a:ext cx="562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Validation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063240" y="2404872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Outperformed comparators in 5 of 6 external cohort comparisons, though external AUCs were notably lower than internal CV.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880360" y="2889504"/>
            <a:ext cx="59436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880360" y="2889504"/>
            <a:ext cx="64008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063240" y="2962656"/>
            <a:ext cx="562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Biologically Interpretable Links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063240" y="3255264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altered relationships among short-chain fatty acids, BCAAs, mucosal/inflammatory immune cells, and symptom burden.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880360" y="3739896"/>
            <a:ext cx="59436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880360" y="3739896"/>
            <a:ext cx="64008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063240" y="3813048"/>
            <a:ext cx="562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Generation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063240" y="4105656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BioMapAI is not just a classifier — it provides a systems-level map connecting microbiome, metabolome, and immune biology.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7432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BioMapAI Is Not the End of the Story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91440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breakthrough that makes robustness analysis the required next step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8503920" cy="658368"/>
          </a:xfrm>
          <a:prstGeom prst="rect">
            <a:avLst/>
          </a:prstGeom>
          <a:solidFill>
            <a:srgbClr val="243447"/>
          </a:solidFill>
          <a:ln w="12700">
            <a:solidFill>
              <a:srgbClr val="1B2A3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2588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2618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Modest dataset size: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60120" y="153619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249 participants is deep but small by deep learning standards — generalization remains uncertain.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0040" y="1938528"/>
            <a:ext cx="8503920" cy="658368"/>
          </a:xfrm>
          <a:prstGeom prst="rect">
            <a:avLst/>
          </a:prstGeom>
          <a:solidFill>
            <a:srgbClr val="243447"/>
          </a:solidFill>
          <a:ln w="12700">
            <a:solidFill>
              <a:srgbClr val="1B2A3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75688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60120" y="2011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performance drop: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960120" y="228600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differences (technical and clinical) and incomplete feature overlap reduce external AUCs significantly.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320040" y="2688336"/>
            <a:ext cx="8503920" cy="658368"/>
          </a:xfrm>
          <a:prstGeom prst="rect">
            <a:avLst/>
          </a:prstGeom>
          <a:solidFill>
            <a:srgbClr val="243447"/>
          </a:solidFill>
          <a:ln w="12700">
            <a:solidFill>
              <a:srgbClr val="1B2A3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825496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60120" y="27614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Unvalidated symptom biomarkers: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960120" y="3035808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symptom-specific outputs were powerful for hypothesis generation but not validated on held-out data.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320040" y="3438144"/>
            <a:ext cx="8503920" cy="658368"/>
          </a:xfrm>
          <a:prstGeom prst="rect">
            <a:avLst/>
          </a:prstGeom>
          <a:solidFill>
            <a:srgbClr val="243447"/>
          </a:solidFill>
          <a:ln w="12700">
            <a:solidFill>
              <a:srgbClr val="1B2A3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575304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60120" y="351129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label dependency: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960120" y="3785616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Fundamentally tied to available labels and cohort-specific measurement structure — limits prospective deployment.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320040" y="4187952"/>
            <a:ext cx="8503920" cy="658368"/>
          </a:xfrm>
          <a:prstGeom prst="rect">
            <a:avLst/>
          </a:prstGeom>
          <a:solidFill>
            <a:srgbClr val="243447"/>
          </a:solidFill>
          <a:ln w="12700">
            <a:solidFill>
              <a:srgbClr val="1B2A3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325112"/>
            <a:ext cx="365760" cy="3657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60120" y="42611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 dependency: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960120" y="453542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representation depends on prior modality-specific feature selection choices — a hidden sensitivity.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3F"/>
          </a:solidFill>
          <a:ln w="12700">
            <a:solidFill>
              <a:srgbClr val="1B2A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09728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Deeper Robustness &amp; Ablation Study Is the Logical Next Paper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multimodal model performs well — what is it actually depending on?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41605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188720"/>
            <a:ext cx="4160520" cy="411480"/>
          </a:xfrm>
          <a:prstGeom prst="rect">
            <a:avLst/>
          </a:prstGeom>
          <a:solidFill>
            <a:srgbClr val="1B2A3F"/>
          </a:solidFill>
          <a:ln w="12700">
            <a:solidFill>
              <a:srgbClr val="1B2A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0040" y="1188720"/>
            <a:ext cx="64008" cy="3657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1234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Motivations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1737360"/>
            <a:ext cx="3749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modality dependence — microbiome vs. immune vs. metabolomics?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redundancy — are expensive modalities adding real signal?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clinical feasibility — can lower-burden inputs proxy high-cost assays?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 overfitting — if accuracy collapses when a modality is perturbed, the biomarker claim is much weaker.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188720"/>
            <a:ext cx="41605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54880" y="1188720"/>
            <a:ext cx="4160520" cy="411480"/>
          </a:xfrm>
          <a:prstGeom prst="rect">
            <a:avLst/>
          </a:prstGeom>
          <a:solidFill>
            <a:srgbClr val="1B2A3F"/>
          </a:solidFill>
          <a:ln w="12700">
            <a:solidFill>
              <a:srgbClr val="1B2A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754880" y="1188720"/>
            <a:ext cx="64008" cy="3657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937760" y="1234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Outputs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83480" y="1737360"/>
            <a:ext cx="3749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Modality importance ranking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Redundancy map across assay types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 curves under degraded input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Lower-burden proxy candidates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guidance for deployable pipelines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7432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Ablation Study Should Do Technically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91440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experimental design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2606040" cy="1554480"/>
          </a:xfrm>
          <a:prstGeom prst="rect">
            <a:avLst/>
          </a:prstGeom>
          <a:solidFill>
            <a:srgbClr val="243447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29844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05840" y="13258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Leave-one-modality-out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2331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microbiome, metabolome, immune, lab, wearable, or symptom-history groups one at a time.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0" y="1188720"/>
            <a:ext cx="2606040" cy="1554480"/>
          </a:xfrm>
          <a:prstGeom prst="rect">
            <a:avLst/>
          </a:prstGeom>
          <a:solidFill>
            <a:srgbClr val="243447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337560" y="129844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886200" y="13258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degradation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37560" y="1828800"/>
            <a:ext cx="2331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lower-resolution assays, noisier measurements, missingness, and reduced feature overlap.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80760" y="1188720"/>
            <a:ext cx="2606040" cy="1554480"/>
          </a:xfrm>
          <a:prstGeom prst="rect">
            <a:avLst/>
          </a:prstGeom>
          <a:solidFill>
            <a:srgbClr val="243447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17920" y="129844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766560" y="13258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Cross-cohort robustness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17920" y="1828800"/>
            <a:ext cx="2331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whether modality importance is stable across internal folds, held-out subjects, and external cohorts.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618488" y="3063240"/>
            <a:ext cx="2606040" cy="1554480"/>
          </a:xfrm>
          <a:prstGeom prst="rect">
            <a:avLst/>
          </a:prstGeom>
          <a:solidFill>
            <a:srgbClr val="243447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755648" y="317296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304288" y="32004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Subgroup dependence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755648" y="3703320"/>
            <a:ext cx="2331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whether different patient subtypes rely on different modality families.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498848" y="3063240"/>
            <a:ext cx="2606040" cy="1554480"/>
          </a:xfrm>
          <a:prstGeom prst="rect">
            <a:avLst/>
          </a:prstGeom>
          <a:solidFill>
            <a:srgbClr val="243447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636008" y="317296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184648" y="32004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&amp; uncertainty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636008" y="3703320"/>
            <a:ext cx="2331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whether the model knows when it is out of distribution.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3F"/>
          </a:solidFill>
          <a:ln w="12700">
            <a:solidFill>
              <a:srgbClr val="1B2A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09728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Beyond BioMapAI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bridge from deep phenotyping to scalable wearable monitoring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4160520" cy="3200400"/>
          </a:xfrm>
          <a:prstGeom prst="rect">
            <a:avLst/>
          </a:prstGeom>
          <a:solidFill>
            <a:srgbClr val="1B2A3F"/>
          </a:solidFill>
          <a:ln w="12700">
            <a:solidFill>
              <a:srgbClr val="1B2A3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4520" y="1371600"/>
            <a:ext cx="1005840" cy="10058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246888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Multi-Omics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94360" y="29260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Deep biological signal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94360" y="32461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Expensive &amp; sparse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94360" y="35661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Not continuously available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94360" y="38862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Powerful for discovery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754880" y="1188720"/>
            <a:ext cx="4160520" cy="3200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371600"/>
            <a:ext cx="1005840" cy="10058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937760" y="246888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 Physiology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5029200" y="29260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Lower burden &amp; high frequency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5029200" y="32461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Longitudinal &amp; ecologically valid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5029200" y="35661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Noisy but continuous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5029200" y="38862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Essential for flare / recovery dynamics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320040" y="4572000"/>
            <a:ext cx="8503920" cy="457200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1B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accessible future measurement layer may not be multi-omics — it may be wearable longitudinal physiology.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7432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Time-Series Foundation Model?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91440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on unlabeled temporal data to learn transferable physiological representations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20040" y="11430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Pretraining Signals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1920240" cy="530352"/>
          </a:xfrm>
          <a:prstGeom prst="rect">
            <a:avLst/>
          </a:prstGeom>
          <a:solidFill>
            <a:srgbClr val="243447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57276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ECG / RR intervals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377440" y="1508760"/>
            <a:ext cx="1920240" cy="530352"/>
          </a:xfrm>
          <a:prstGeom prst="rect">
            <a:avLst/>
          </a:prstGeom>
          <a:solidFill>
            <a:srgbClr val="243447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468880" y="157276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2148840"/>
            <a:ext cx="1920240" cy="530352"/>
          </a:xfrm>
          <a:prstGeom prst="rect">
            <a:avLst/>
          </a:prstGeom>
          <a:solidFill>
            <a:srgbClr val="243447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221284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/ HRV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377440" y="2148840"/>
            <a:ext cx="1920240" cy="530352"/>
          </a:xfrm>
          <a:prstGeom prst="rect">
            <a:avLst/>
          </a:prstGeom>
          <a:solidFill>
            <a:srgbClr val="243447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468880" y="221284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Accelerometry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2788920"/>
            <a:ext cx="1920240" cy="530352"/>
          </a:xfrm>
          <a:prstGeom prst="rect">
            <a:avLst/>
          </a:prstGeom>
          <a:solidFill>
            <a:srgbClr val="243447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1480" y="285292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377440" y="2788920"/>
            <a:ext cx="1920240" cy="530352"/>
          </a:xfrm>
          <a:prstGeom prst="rect">
            <a:avLst/>
          </a:prstGeom>
          <a:solidFill>
            <a:srgbClr val="243447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468880" y="285292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3429000"/>
            <a:ext cx="1920240" cy="530352"/>
          </a:xfrm>
          <a:prstGeom prst="rect">
            <a:avLst/>
          </a:prstGeom>
          <a:solidFill>
            <a:srgbClr val="243447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11480" y="349300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Respiration proxies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377440" y="3429000"/>
            <a:ext cx="1920240" cy="530352"/>
          </a:xfrm>
          <a:prstGeom prst="rect">
            <a:avLst/>
          </a:prstGeom>
          <a:solidFill>
            <a:srgbClr val="243447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468880" y="349300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&amp; circadian rhythms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663440" y="1143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vs. TSFM Approach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63440" y="1508760"/>
            <a:ext cx="4160520" cy="1371600"/>
          </a:xfrm>
          <a:prstGeom prst="rect">
            <a:avLst/>
          </a:prstGeom>
          <a:solidFill>
            <a:srgbClr val="243447"/>
          </a:solidFill>
          <a:ln w="254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00600" y="16002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00600" y="199339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Hand-engineer HRV / actigraphy features → fit a task-specific model for each outcome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3063240"/>
            <a:ext cx="4160520" cy="1371600"/>
          </a:xfrm>
          <a:prstGeom prst="rect">
            <a:avLst/>
          </a:prstGeom>
          <a:solidFill>
            <a:srgbClr val="243447"/>
          </a:solidFill>
          <a:ln w="254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00600" y="31546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TSFM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00600" y="354787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broad physiology representation via self-supervised pretraining → fine-tune or probe for specific tasks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3F"/>
          </a:solidFill>
          <a:ln w="12700">
            <a:solidFill>
              <a:srgbClr val="1B2A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09728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TSFMs Are Attractive for Systemic Disorders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targeting the bottlenecks in this space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188720"/>
            <a:ext cx="416052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44752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137160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Scarcity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143000" y="178308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labels are expensive and noisy. Self-supervised pretraining can dramatically reduce labeled-data requirements.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54880" y="118872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754880" y="1188720"/>
            <a:ext cx="416052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444752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77840" y="137160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Heterogeneity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577840" y="178308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representations may transfer better across sensors and cohorts than hand-engineered pipelines.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320040" y="306324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320040" y="3063240"/>
            <a:ext cx="416052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319272"/>
            <a:ext cx="502920" cy="5029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43000" y="324612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Longitudinal Structure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1143000" y="365760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models exploit rhythms, transitions, missingness patterns, and context at multiple time scales.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754880" y="306324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4754880" y="3063240"/>
            <a:ext cx="416052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319272"/>
            <a:ext cx="502920" cy="5029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577840" y="324612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Personalization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5577840" y="365760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may support patient-specific baselines and drift detection instead of one-size-fits-all thresholds.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7432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TSFM Work We Can Build 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91440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prior art across wearable biosignal foundation models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8503920" cy="658368"/>
          </a:xfrm>
          <a:prstGeom prst="rect">
            <a:avLst/>
          </a:prstGeom>
          <a:solidFill>
            <a:srgbClr val="243447"/>
          </a:solidFill>
          <a:ln w="12700">
            <a:solidFill>
              <a:srgbClr val="1B2A3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640080" cy="658368"/>
          </a:xfrm>
          <a:prstGeom prst="rect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37160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" y="12618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Biosignal Foundation Models: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153619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Self-supervised pretraining on PPG &amp; ECG from ~141K participants shows consumer wearables encode useful health information.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1947672"/>
            <a:ext cx="8503920" cy="658368"/>
          </a:xfrm>
          <a:prstGeom prst="rect">
            <a:avLst/>
          </a:prstGeom>
          <a:solidFill>
            <a:srgbClr val="243447"/>
          </a:solidFill>
          <a:ln w="12700">
            <a:solidFill>
              <a:srgbClr val="1B2A3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" y="1947672"/>
            <a:ext cx="640080" cy="658368"/>
          </a:xfrm>
          <a:prstGeom prst="rect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040" y="213055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7280" y="202082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Wearable FMs: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97280" y="2295144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2.5B hours, 162K individuals, strong across 57 health tasks — behavioral representations complement raw-sensor embeddings.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2706624"/>
            <a:ext cx="8503920" cy="658368"/>
          </a:xfrm>
          <a:prstGeom prst="rect">
            <a:avLst/>
          </a:prstGeom>
          <a:solidFill>
            <a:srgbClr val="243447"/>
          </a:solidFill>
          <a:ln w="12700">
            <a:solidFill>
              <a:srgbClr val="1B2A3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0040" y="2706624"/>
            <a:ext cx="640080" cy="658368"/>
          </a:xfrm>
          <a:prstGeom prst="rect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0040" y="2889504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97280" y="277977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Accelerometer FM via Distillation: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97280" y="3054096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Lower-fidelity sensors inherit informative structure from richer biosignals — exciting for low-cost digital biomarkers.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3465576"/>
            <a:ext cx="8503920" cy="658368"/>
          </a:xfrm>
          <a:prstGeom prst="rect">
            <a:avLst/>
          </a:prstGeom>
          <a:solidFill>
            <a:srgbClr val="243447"/>
          </a:solidFill>
          <a:ln w="12700">
            <a:solidFill>
              <a:srgbClr val="1B2A3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20040" y="3465576"/>
            <a:ext cx="640080" cy="658368"/>
          </a:xfrm>
          <a:prstGeom prst="rect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20040" y="3648456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97280" y="35387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PaPaGei PPG Foundation Model: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97280" y="381304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57,000+ hours of unlabeled PPG from public datasets, strong performance across 20 downstream tasks.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" y="4224528"/>
            <a:ext cx="8503920" cy="658368"/>
          </a:xfrm>
          <a:prstGeom prst="rect">
            <a:avLst/>
          </a:prstGeom>
          <a:solidFill>
            <a:srgbClr val="243447"/>
          </a:solidFill>
          <a:ln w="12700">
            <a:solidFill>
              <a:srgbClr val="1B2A3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20040" y="4224528"/>
            <a:ext cx="640080" cy="658368"/>
          </a:xfrm>
          <a:prstGeom prst="rect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20040" y="440740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7280" y="42976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Pulse-PPG: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97280" y="457200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Field-trained on raw, noisy wearable PPG — emphasizes generalization across field, lab, and clinical environments.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3F"/>
          </a:solidFill>
          <a:ln w="12700">
            <a:solidFill>
              <a:srgbClr val="1B2A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09728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Still Missing for ME/CFS / POTS / Long COVID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is the opportunity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26974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188720"/>
            <a:ext cx="2697480" cy="64008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Disease-Specific Dynamics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783080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TSFM work is not designed around orthostatic intolerance, PEM-like crashes, or autonomic instability.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188720"/>
            <a:ext cx="26974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0" y="1188720"/>
            <a:ext cx="2697480" cy="64008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37560" y="13258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Training Objectives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37560" y="1783080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are trained on general wellness or standard clinical benchmarks — not the disease dynamics that matter here.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80760" y="1188720"/>
            <a:ext cx="26974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080760" y="1188720"/>
            <a:ext cx="2697480" cy="64008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17920" y="13258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Generalization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17920" y="1783080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Cross-device and field generalization remain hard when signals are noisy and posture/exertion labels are weak or absent.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3383280"/>
            <a:ext cx="8503920" cy="1554480"/>
          </a:xfrm>
          <a:prstGeom prst="rect">
            <a:avLst/>
          </a:prstGeom>
          <a:solidFill>
            <a:srgbClr val="1B2A3F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8640" y="3520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Needed Representation Learning Emphases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886200"/>
            <a:ext cx="1508760" cy="822960"/>
          </a:xfrm>
          <a:prstGeom prst="rect">
            <a:avLst/>
          </a:prstGeom>
          <a:solidFill>
            <a:srgbClr val="243447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388620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Posture transitions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121408" y="3886200"/>
            <a:ext cx="1508760" cy="822960"/>
          </a:xfrm>
          <a:prstGeom prst="rect">
            <a:avLst/>
          </a:prstGeom>
          <a:solidFill>
            <a:srgbClr val="243447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121408" y="388620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Exertional context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785616" y="3886200"/>
            <a:ext cx="1508760" cy="822960"/>
          </a:xfrm>
          <a:prstGeom prst="rect">
            <a:avLst/>
          </a:prstGeom>
          <a:solidFill>
            <a:srgbClr val="243447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785616" y="388620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Circadian state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49824" y="3886200"/>
            <a:ext cx="1508760" cy="822960"/>
          </a:xfrm>
          <a:prstGeom prst="rect">
            <a:avLst/>
          </a:prstGeom>
          <a:solidFill>
            <a:srgbClr val="243447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449824" y="388620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Symptom-coupled drift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114032" y="3886200"/>
            <a:ext cx="1508760" cy="822960"/>
          </a:xfrm>
          <a:prstGeom prst="rect">
            <a:avLst/>
          </a:prstGeom>
          <a:solidFill>
            <a:srgbClr val="243447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114032" y="388620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Missingness robustness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7432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TSFM Research Direction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91440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 autonomic wearable representations → test on systemic-disorder tasks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2697480" cy="3611880"/>
          </a:xfrm>
          <a:prstGeom prst="rect">
            <a:avLst/>
          </a:prstGeom>
          <a:solidFill>
            <a:srgbClr val="243447"/>
          </a:solidFill>
          <a:ln w="254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2697480" cy="411480"/>
          </a:xfrm>
          <a:prstGeom prst="rect">
            <a:avLst/>
          </a:prstGeom>
          <a:solidFill>
            <a:srgbClr val="0D9488">
              <a:alpha val="85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2344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Pretraining Signals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" y="1691640"/>
            <a:ext cx="54864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76072" y="166420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ECG / RR intervals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" y="2075688"/>
            <a:ext cx="54864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76072" y="204825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29768" y="2459736"/>
            <a:ext cx="54864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76072" y="2432304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/ HRV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29768" y="2843784"/>
            <a:ext cx="54864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76072" y="281635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Accelerometry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29768" y="3227832"/>
            <a:ext cx="54864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76072" y="320040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29768" y="3611880"/>
            <a:ext cx="54864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76072" y="358444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29768" y="3995928"/>
            <a:ext cx="54864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76072" y="396849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Respiration proxies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29768" y="4379976"/>
            <a:ext cx="54864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76072" y="4352544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/ circadian features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0" y="1188720"/>
            <a:ext cx="2697480" cy="3611880"/>
          </a:xfrm>
          <a:prstGeom prst="rect">
            <a:avLst/>
          </a:prstGeom>
          <a:solidFill>
            <a:srgbClr val="243447"/>
          </a:solidFill>
          <a:ln w="25400">
            <a:solidFill>
              <a:srgbClr val="14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200400" y="1188720"/>
            <a:ext cx="2697480" cy="411480"/>
          </a:xfrm>
          <a:prstGeom prst="rect">
            <a:avLst/>
          </a:prstGeom>
          <a:solidFill>
            <a:srgbClr val="14B8A6">
              <a:alpha val="85000"/>
            </a:srgbClr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291840" y="12344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Self-Supervised Objectives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310128" y="1691640"/>
            <a:ext cx="54864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456432" y="166420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 reconstruction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310128" y="2075688"/>
            <a:ext cx="54864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456432" y="204825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Contrastive learning across windows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310128" y="2459736"/>
            <a:ext cx="54864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456432" y="2432304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Motif-aware relative contrastive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310128" y="2843784"/>
            <a:ext cx="54864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456432" y="281635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Cross-modal alignment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310128" y="3227832"/>
            <a:ext cx="54864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456432" y="320040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Circadian-context prediction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310128" y="3611880"/>
            <a:ext cx="54864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456432" y="358444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Posture-transition prediction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080760" y="1188720"/>
            <a:ext cx="2697480" cy="3611880"/>
          </a:xfrm>
          <a:prstGeom prst="rect">
            <a:avLst/>
          </a:prstGeom>
          <a:solidFill>
            <a:srgbClr val="243447"/>
          </a:solidFill>
          <a:ln w="254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080760" y="1188720"/>
            <a:ext cx="2697480" cy="411480"/>
          </a:xfrm>
          <a:prstGeom prst="rect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172200" y="12344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 Tasks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190488" y="1691640"/>
            <a:ext cx="54864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336792" y="166420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Phenotype discrimination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190488" y="2075688"/>
            <a:ext cx="54864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336792" y="204825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Flare prediction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190488" y="2459736"/>
            <a:ext cx="54864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336792" y="2432304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trajectory modeling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190488" y="2843784"/>
            <a:ext cx="54864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336792" y="281635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detection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190488" y="3227832"/>
            <a:ext cx="54864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336792" y="320040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thresholding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3F"/>
          </a:solidFill>
          <a:ln w="12700">
            <a:solidFill>
              <a:srgbClr val="1B2A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09728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TSFMs and BioMapAI Belong in the Same Program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they form a coherent research pipeline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4160520" cy="2194560"/>
          </a:xfrm>
          <a:prstGeom prst="rect">
            <a:avLst/>
          </a:prstGeom>
          <a:solidFill>
            <a:srgbClr val="1B2A3F"/>
          </a:solidFill>
          <a:ln w="12700">
            <a:solidFill>
              <a:srgbClr val="1B2A3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7160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3716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A: BioMapAI Robustness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21031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Identifies which modalities are truly informative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24505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Tests whether lower-burden substitutes are plausible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48640" y="279806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Establishes methodological standards for AI biomarker validation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54880" y="1188720"/>
            <a:ext cx="4160520" cy="2194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371600"/>
            <a:ext cx="640080" cy="6400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69280" y="13716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B: Wearable TSFMs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983480" y="21031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Provides the candidate substitute measurement layer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4983480" y="24505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Captures longitudinal physiology unavailable in static multi-omics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983480" y="279806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Enables prospective monitoring at scale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320040" y="3566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they support a pipeline: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320040" y="3977640"/>
            <a:ext cx="1600200" cy="777240"/>
          </a:xfrm>
          <a:prstGeom prst="rect">
            <a:avLst/>
          </a:prstGeom>
          <a:solidFill>
            <a:srgbClr val="1B2A3F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320040" y="397764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Phenotyping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1920240" y="4206240"/>
            <a:ext cx="137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2057400" y="3977640"/>
            <a:ext cx="160020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2057400" y="397764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Modality Analysis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3657600" y="4206240"/>
            <a:ext cx="137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3794760" y="3977640"/>
            <a:ext cx="1600200" cy="777240"/>
          </a:xfrm>
          <a:prstGeom prst="rect">
            <a:avLst/>
          </a:prstGeom>
          <a:solidFill>
            <a:srgbClr val="1B2A3F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3794760" y="397764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Discovery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5394960" y="4206240"/>
            <a:ext cx="137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5532120" y="3977640"/>
            <a:ext cx="160020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5"/>
          <p:cNvSpPr/>
          <p:nvPr/>
        </p:nvSpPr>
        <p:spPr>
          <a:xfrm>
            <a:off x="5532120" y="397764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 Representation Learning</a:t>
            </a:r>
            <a:endParaRPr lang="en-US" sz="950" dirty="0"/>
          </a:p>
        </p:txBody>
      </p:sp>
      <p:sp>
        <p:nvSpPr>
          <p:cNvPr id="30" name="Text 26"/>
          <p:cNvSpPr/>
          <p:nvPr/>
        </p:nvSpPr>
        <p:spPr>
          <a:xfrm>
            <a:off x="7132320" y="4206240"/>
            <a:ext cx="137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7269480" y="3977640"/>
            <a:ext cx="1600200" cy="777240"/>
          </a:xfrm>
          <a:prstGeom prst="rect">
            <a:avLst/>
          </a:prstGeom>
          <a:solidFill>
            <a:srgbClr val="1B2A3F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28"/>
          <p:cNvSpPr/>
          <p:nvPr/>
        </p:nvSpPr>
        <p:spPr>
          <a:xfrm>
            <a:off x="7269480" y="397764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Prospective Monitoring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7432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Candidate Research Questions for PhD Students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91440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Technically rich, scientifically open, clinically meaningful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4160520" cy="822960"/>
          </a:xfrm>
          <a:prstGeom prst="rect">
            <a:avLst/>
          </a:prstGeom>
          <a:solidFill>
            <a:srgbClr val="243447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12801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BioMapAI-like models retain performance under systematic modality dropout?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2139696"/>
            <a:ext cx="4160520" cy="822960"/>
          </a:xfrm>
          <a:prstGeom prst="rect">
            <a:avLst/>
          </a:prstGeom>
          <a:solidFill>
            <a:srgbClr val="243447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23225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2231136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modality families add unique vs. redundant information?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3090672"/>
            <a:ext cx="4160520" cy="822960"/>
          </a:xfrm>
          <a:prstGeom prst="rect">
            <a:avLst/>
          </a:prstGeom>
          <a:solidFill>
            <a:srgbClr val="243447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1480" y="32735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68680" y="3182112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wearable embeddings recover signal lost when specialty assays are absent?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4041648"/>
            <a:ext cx="4160520" cy="822960"/>
          </a:xfrm>
          <a:prstGeom prst="rect">
            <a:avLst/>
          </a:prstGeom>
          <a:solidFill>
            <a:srgbClr val="243447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1480" y="42245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68680" y="413308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posture-aware or circadian-aware pretraining improve systemic-disorder phenotyping?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1188720"/>
            <a:ext cx="4160520" cy="822960"/>
          </a:xfrm>
          <a:prstGeom prst="rect">
            <a:avLst/>
          </a:prstGeom>
          <a:solidFill>
            <a:srgbClr val="243447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4632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303520" y="12801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self-supervised embeddings predict flare risk with less labeled data than HRV feature engineering?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2139696"/>
            <a:ext cx="4160520" cy="822960"/>
          </a:xfrm>
          <a:prstGeom prst="rect">
            <a:avLst/>
          </a:prstGeom>
          <a:solidFill>
            <a:srgbClr val="243447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46320" y="23225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303520" y="2231136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should uncertainty be estimated when the model is outside the training distribution?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3090672"/>
            <a:ext cx="4160520" cy="822960"/>
          </a:xfrm>
          <a:prstGeom prst="rect">
            <a:avLst/>
          </a:prstGeom>
          <a:solidFill>
            <a:srgbClr val="243447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46320" y="32735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303520" y="3182112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cross-modal distillation help low-cost wearables approximate richer physiological states?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3F"/>
          </a:solidFill>
          <a:ln w="12700">
            <a:solidFill>
              <a:srgbClr val="1B2A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09728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This a Strong PhD Research Program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Technically real · Scientifically open · Clinically meaningful · Tractable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4160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188720"/>
            <a:ext cx="4160520" cy="73152"/>
          </a:xfrm>
          <a:prstGeom prst="rect">
            <a:avLst/>
          </a:prstGeom>
          <a:solidFill>
            <a:srgbClr val="1B2A3F"/>
          </a:solidFill>
          <a:ln w="12700">
            <a:solidFill>
              <a:srgbClr val="1B2A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63040"/>
            <a:ext cx="548640" cy="548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8720" y="14173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Technically Real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188720" y="182880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fusion, representation learning, domain shift, uncertainty, interpretability, weak supervision, and causal confounding are all in play.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54880" y="1188720"/>
            <a:ext cx="4160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754880" y="1188720"/>
            <a:ext cx="416052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463040"/>
            <a:ext cx="548640" cy="5486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23560" y="14173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Scientifically Open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623560" y="182880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digital biomarkers for these diseases are not settled. Every finding is a genuine contribution.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320040" y="3108960"/>
            <a:ext cx="4160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320040" y="3108960"/>
            <a:ext cx="4160520" cy="7315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383280"/>
            <a:ext cx="548640" cy="5486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88720" y="33375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Clinically Meaningful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1188720" y="374904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Underserved populations with real diagnostic gaps. Research here directly translates to patient impact.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754880" y="3108960"/>
            <a:ext cx="4160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4754880" y="3108960"/>
            <a:ext cx="416052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383280"/>
            <a:ext cx="548640" cy="5486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623560" y="33375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Tractable Portfolio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5623560" y="374904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as a portfolio of subprojects rather than one moonshot — permits steady PhD progress with cumulative impact.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Invitation to Collaborate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Invisible Illness Project · Research Opportunities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2606040" cy="1143000"/>
          </a:xfrm>
          <a:prstGeom prst="rect">
            <a:avLst/>
          </a:prstGeom>
          <a:solidFill>
            <a:srgbClr val="243447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1328" y="1527048"/>
            <a:ext cx="530352" cy="5303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213055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ablation &amp; robustness pipelines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46120" y="1417320"/>
            <a:ext cx="2606040" cy="1143000"/>
          </a:xfrm>
          <a:prstGeom prst="rect">
            <a:avLst/>
          </a:prstGeom>
          <a:solidFill>
            <a:srgbClr val="243447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0248" y="1527048"/>
            <a:ext cx="530352" cy="53035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37560" y="213055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 time-series foundation models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035040" y="1417320"/>
            <a:ext cx="2606040" cy="1143000"/>
          </a:xfrm>
          <a:prstGeom prst="rect">
            <a:avLst/>
          </a:prstGeom>
          <a:solidFill>
            <a:srgbClr val="243447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9168" y="1527048"/>
            <a:ext cx="530352" cy="53035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126480" y="213055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Physiological signal processing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457200" y="2743200"/>
            <a:ext cx="2606040" cy="1143000"/>
          </a:xfrm>
          <a:prstGeom prst="rect">
            <a:avLst/>
          </a:prstGeom>
          <a:solidFill>
            <a:srgbClr val="243447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1328" y="2852928"/>
            <a:ext cx="530352" cy="53035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48640" y="345643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adaptation across devices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3246120" y="2743200"/>
            <a:ext cx="2606040" cy="1143000"/>
          </a:xfrm>
          <a:prstGeom prst="rect">
            <a:avLst/>
          </a:prstGeom>
          <a:solidFill>
            <a:srgbClr val="243447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70248" y="2852928"/>
            <a:ext cx="530352" cy="53035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3337560" y="345643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Symptom-aligned labeling &amp; dataset design</a:t>
            </a:r>
            <a:endParaRPr lang="en-US" sz="1100" dirty="0"/>
          </a:p>
        </p:txBody>
      </p:sp>
      <p:sp>
        <p:nvSpPr>
          <p:cNvPr id="21" name="Shape 14"/>
          <p:cNvSpPr/>
          <p:nvPr/>
        </p:nvSpPr>
        <p:spPr>
          <a:xfrm>
            <a:off x="6035040" y="2743200"/>
            <a:ext cx="2606040" cy="1143000"/>
          </a:xfrm>
          <a:prstGeom prst="rect">
            <a:avLst/>
          </a:prstGeom>
          <a:solidFill>
            <a:srgbClr val="243447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59168" y="2852928"/>
            <a:ext cx="530352" cy="530352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6126480" y="345643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 flare prediction</a:t>
            </a:r>
            <a:endParaRPr lang="en-US" sz="1100" dirty="0"/>
          </a:p>
        </p:txBody>
      </p:sp>
      <p:sp>
        <p:nvSpPr>
          <p:cNvPr id="24" name="Text 16"/>
          <p:cNvSpPr/>
          <p:nvPr/>
        </p:nvSpPr>
        <p:spPr>
          <a:xfrm>
            <a:off x="457200" y="46817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Eddie Massey III  ·  Invisible Illness Project  ·  Roeh Health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1734</Words>
  <Application>Microsoft Macintosh PowerPoint</Application>
  <PresentationFormat>On-screen Show (16:9)</PresentationFormat>
  <Paragraphs>297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Detravious J. Brinkley</cp:lastModifiedBy>
  <cp:revision>1</cp:revision>
  <dcterms:created xsi:type="dcterms:W3CDTF">2026-03-13T17:19:09Z</dcterms:created>
  <dcterms:modified xsi:type="dcterms:W3CDTF">2026-04-06T21:42:43Z</dcterms:modified>
</cp:coreProperties>
</file>